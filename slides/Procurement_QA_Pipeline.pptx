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8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Q&amp;A Dataset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source-grounded pipeline that turns open procurement documents into 25 verifiable question-answer pairs.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703320"/>
            <a:ext cx="1779422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7794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sources only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48102" y="3703320"/>
            <a:ext cx="3123590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648102" y="3703320"/>
            <a:ext cx="3123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traced to a passage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00293" y="3703320"/>
            <a:ext cx="3033979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000293" y="3703320"/>
            <a:ext cx="30339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open models (no API keys)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262872" y="3703320"/>
            <a:ext cx="2675534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262872" y="3703320"/>
            <a:ext cx="2675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+ KPIs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01752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39496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pairs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772400" y="5257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assignment  ·  methodology &amp; results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selection — what we chose &amp; why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0327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open, non-licensed sources only. Drawn from the provided list AND searched for credible open sources beyond it — then let extraction quality decide what stayed.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74088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kept (13 sources) — and why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339848"/>
            <a:ext cx="65379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339848"/>
            <a:ext cx="82296" cy="89611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24312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guidance ×3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23896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Official, prose-rich PDFs on value-for-money, supply chain &amp; procurement basics — authoritative and clean to extract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09112"/>
            <a:ext cx="65379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8640" y="3309112"/>
            <a:ext cx="82296" cy="89611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340055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OCDS ×2 + UNCITRAL ×1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93160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Contracting Data Standard + UN model law — the recognised standards &amp; legal backbone of procurement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78376"/>
            <a:ext cx="65379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48640" y="4278376"/>
            <a:ext cx="82296" cy="8961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" y="436981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open-access paper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662424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digital / sustainable procurement — adds a peer-reviewed research voice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47640"/>
            <a:ext cx="65379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8640" y="5247640"/>
            <a:ext cx="82296" cy="896112"/>
          </a:xfrm>
          <a:prstGeom prst="rect">
            <a:avLst/>
          </a:prstGeom>
          <a:solidFill>
            <a:srgbClr val="5A6E7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533908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×5 (definitional)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631688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TCO, Incoterms, SLA, supply-chain risk, sustainable procurement — reliable for clear, self-contained definitions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1974088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498080" y="21021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5 Wikipedia (38%)?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0" y="2431288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few conceptual topics (Incoterms, TCO, SLA) the authoritative bodies publish dense specs, not readable prose. Wikipedia gives clean, self-contained definitions there — so it's used ONLY for definitional topics, never for policy or process.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4077208"/>
            <a:ext cx="434340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AD3C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498080" y="41869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broke — and got swapped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451612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b="1" dirty="0">
              <a:solidFill>
                <a:srgbClr val="0B3C4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 &amp; USAspending: </a:t>
            </a: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JS-rendered, returned no text. </a:t>
            </a: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Parts 1/2/6: </a:t>
            </a: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table-of-contents fragments. </a:t>
            </a: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Bank PDF: </a:t>
            </a: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as ToC only. </a:t>
            </a:r>
            <a:r>
              <a:rPr lang="en-US" sz="1200" i="1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was inspected and replaced — graceful per-source failure made this iteration cheap.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338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63500" dist="25400" dir="5400000" algn="bl" rotWithShape="0">
              <a:srgbClr val="CADADA">
                <a:alpha val="6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271016" y="18719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271016" y="1871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035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996692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13 open sources (HTML + PDF); strip boilerplate; log URL, license &amp; date to a manifest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7752" y="24206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52344" y="164338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63500" dist="25400" dir="5400000" algn="bl" rotWithShape="0">
              <a:srgbClr val="CADADA">
                <a:alpha val="6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474720" y="18719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474720" y="1871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52344" y="26035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62072" y="2996692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~850 passages at semantic topic shifts; tag each to 1 of 7 sub-topics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91456" y="24206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956048" y="164338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63500" dist="25400" dir="5400000" algn="bl" rotWithShape="0">
              <a:srgbClr val="CADADA">
                <a:alpha val="6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678424" y="18719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678424" y="1871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956048" y="26035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65776" y="2996692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Topic-balanced sample; LLM writes Q + grounded answer + verbatim cited quote (50 candidates)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24206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159752" y="164338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63500" dist="25400" dir="5400000" algn="bl" rotWithShape="0">
              <a:srgbClr val="CADADA">
                <a:alpha val="6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882128" y="18719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882128" y="1871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159752" y="26035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69480" y="2996692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groundedness, relevance, quality; drop junk &amp; dupes; select best 25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98864" y="24206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363456" y="164338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63500" dist="25400" dir="5400000" algn="bl" rotWithShape="0">
              <a:srgbClr val="CADADA">
                <a:alpha val="6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0085832" y="18719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085832" y="1871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363456" y="26035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473184" y="2996692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.xlsx (8 required columns) + KPI self-evaluation report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451350"/>
            <a:ext cx="11064240" cy="162941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77240" y="4636897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techniques beyond the obvious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77240" y="5257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" y="55595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at topic shifts, not fixed length — one embedding model reused 4×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5257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Cited-span grounding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89120" y="55595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copy the exact quote; verified by string match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01000" y="5257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Cross-family LLM judge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01000" y="5559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judges Qwen to curb self-preference bias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usage — where, why, which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/>
          <p:nvPr/>
        </p:nvSpPr>
        <p:spPr>
          <a:xfrm>
            <a:off x="777240" y="160934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(Phase 3)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11880" y="160934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7B-Instruct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1609344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passage, writes one grounded factual pair. Chosen for strong JSON-schema adherence (needed to force the cited quote) and clean instruction-following at 8B.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777240" y="27066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(Phase 4)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7066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706624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correctness, completeness &amp; relevance. A DIFFERENT model family from the generator, on purpose — a model tends to over-approve its own style.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777240" y="380390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(Phases 2 &amp; 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80390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3803904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params, CPU-friendly. One small model does four jobs: semantic chunking, topic tagging, dedup, and groundedness similarity.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49743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different models?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257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model both writes and grades, it rubber-stamps its own output (self-preference bias). A cross-family judge gives an independent quality signal — visible in scores that spread 3-5, not a wall of 5s.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864608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E4F0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00800" y="49743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Ollama + local open models?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257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(no API cost/keys), private (no data leaves the machine), and reproducible — models are pinned by name, so a grader runs 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pull</a:t>
            </a:r>
            <a:r>
              <a:rPr lang="en-US" sz="105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gets identical weights. 8B fits a laptop GPU.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results — actual vs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5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663440" y="13995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21040" y="13995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2485A"/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diversity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sub-topics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0" y="18745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2485A"/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traceable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(88% verbatim)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2485A"/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2461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relevant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2485A"/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9319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correct &amp; complete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9319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rated 4–5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2485A"/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duplication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46177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 near-dupes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6177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2485A"/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53035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from README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53035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is measured objectively (verbatim quote match), independent of any LLM judgment.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pairs — best &amp; worst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2440"/>
            <a:ext cx="6537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E7E1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5" name="Text 3"/>
          <p:cNvSpPr/>
          <p:nvPr/>
        </p:nvSpPr>
        <p:spPr>
          <a:xfrm>
            <a:off x="731520" y="18521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TTR measure in supply chain management?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3621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time it takes a company to restore full operational output following a major supply chain disruption.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9341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· verbatim-grounded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114040"/>
            <a:ext cx="6537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E7E1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9" name="Text 7"/>
          <p:cNvSpPr/>
          <p:nvPr/>
        </p:nvSpPr>
        <p:spPr>
          <a:xfrm>
            <a:off x="731520" y="32237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FOB stand for in procurement and supply chain contracts?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0781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FOB stands for Free On Board.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6501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Incoterms · exact quote match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43078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143078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8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— kept deliberately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1742440"/>
            <a:ext cx="42519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AD3C6"/>
            </a:solidFill>
            <a:prstDash val="solid"/>
          </a:ln>
          <a:effectLst>
            <a:outerShdw blurRad="50800" dist="12700" dir="5400000" algn="bl" rotWithShape="0">
              <a:srgbClr val="E0D5D0">
                <a:alpha val="50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15" name="Text 13"/>
          <p:cNvSpPr/>
          <p:nvPr/>
        </p:nvSpPr>
        <p:spPr>
          <a:xfrm>
            <a:off x="7571232" y="1879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purpose of a trade agreement?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71232" y="2336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 reduce trade barriers and establish rules for trade between countries.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71232" y="29768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weak:  </a:t>
            </a:r>
            <a:r>
              <a:rPr lang="en-US" sz="12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correct general knowledge, but the source passage was a Wikipedia navigation sidebar — a list of terms, not prose. The answer isn't truly grounded, yet quote-matching was fooled by the term appearing in the list.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</a:t>
            </a:r>
            <a:r>
              <a:rPr lang="en-US" sz="1200" dirty="0">
                <a:solidFill>
                  <a:srgbClr val="E8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navigation-menu chunks can yield plausible-but-ungrounded answers, and string-level quote-matching doesn't always catch it — motivating an entailment check as future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judge is lenient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8B judge clusters scores high even with a strict rubric.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 </a:t>
            </a:r>
            <a:r>
              <a:rPr lang="en-US" sz="14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(objective) is the primary gate; a larger judge would discriminate better.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777240" y="4005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Verbatim ≠ full entailment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44622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quote proves the span exists, not that every clause of the answer is entailed.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 </a:t>
            </a:r>
            <a:r>
              <a:rPr lang="en-US" sz="14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natural-language-inference (NLI) entailment check.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6400800" y="1719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noise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0" y="21762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PDF/HTML passages carry OCR artifacts and menu text.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 </a:t>
            </a:r>
            <a:r>
              <a:rPr lang="en-US" sz="14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boilerplate stripping; headless-browser fetch for JS-gated sources.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50800" dist="12700" dir="5400000" algn="bl" rotWithShape="0">
              <a:srgbClr val="D5DEDE">
                <a:alpha val="5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7" name="Text 15"/>
          <p:cNvSpPr/>
          <p:nvPr/>
        </p:nvSpPr>
        <p:spPr>
          <a:xfrm>
            <a:off x="6400800" y="4005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model scale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0" y="44622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models cap answer sophistication and question variety.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516636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 </a:t>
            </a:r>
            <a:r>
              <a:rPr lang="en-US" sz="14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larger model via one config line; no code change.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· 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500+ pairs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7005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157861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3944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config source list (already data-driven); add sitemap crawling and more open PDFs. No code change.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58445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5840" y="249301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3088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generation across passages; run Ollama with parallel workers or a GPU server. The pipeline is per-chunk and embarrassingly parallel.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9885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05840" y="340741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2232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objective groundedness gate; add a stronger judge and an NLI entailment filter to hold precision as volume grows.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1325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05840" y="432181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1376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Topic-balanced + per-source caps already generalize; add difficulty and question-type quotas to shape the 500.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32765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05840" y="523621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50520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~zero — local open models. Only compute time scales, not licensing.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ITERATION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Iterations — sources &amp; chunking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4630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Wikipedia-heavy (67%); grader rewards authoritative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01000" y="14630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Rebalanced to World Bank / OCDS / UNCITRAL / arXiv; Wikipedia only for definitional topics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 &amp; USAspending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JS-rendered pages returned 0 characters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23774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Dropped; documented as headless-browser future 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Parts 1/2/6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2918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US federal acquisition regs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0" y="32918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table-of-contents fragments, low-content chunks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Framework PDF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42062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as a contract-management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42062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extracted as table-of-contents only (~4.5k chars)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tagger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51206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labels collapsed 408 chunks into 'policy &amp; compliance'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51206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rich topic descriptions → honest 7-topic spread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ITERATION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Iterations — generation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metric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4630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cosine of question vs reference paragraph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01000" y="14630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noisy (scores ~0); replaced with LLM-judged relevance boolean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9" name="Text 7"/>
          <p:cNvSpPr/>
          <p:nvPr/>
        </p:nvSpPr>
        <p:spPr>
          <a:xfrm>
            <a:off x="731520" y="225856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25856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(Qwen) judged its own output — all 5s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2258568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Cross-family judge (Llama 3.1) → scores spread 3–5, credible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/>
          <p:nvPr/>
        </p:nvSpPr>
        <p:spPr>
          <a:xfrm>
            <a:off x="731520" y="305409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rubric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05409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Lenient 'is it correct?' gave near-universal 5s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0" y="3054096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rubric with per-level criteria + 'find a weakness'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17" name="Text 15"/>
          <p:cNvSpPr/>
          <p:nvPr/>
        </p:nvSpPr>
        <p:spPr>
          <a:xfrm>
            <a:off x="731520" y="384962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leaks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84962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added facts beyond the passage (e.g. 4 items vs 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384962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judge hardened to penalise over-claiming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45152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/>
          <p:nvPr/>
        </p:nvSpPr>
        <p:spPr>
          <a:xfrm>
            <a:off x="731520" y="46451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'According to passage' Qs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464515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Passage-bound &amp; author-specific questions slipped through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464515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fix: prompt + judge + deterministic regex filter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  <a:effectLst>
            <a:outerShdw blurRad="38100" dist="12700" dir="5400000" algn="bl" rotWithShape="0">
              <a:srgbClr val="DCE4E4">
                <a:alpha val="50000"/>
              </a:srgbClr>
            </a:outerShdw>
          </a:effectLst>
        </p:spPr>
        <p:txBody>
          <a:bodyPr/>
          <a:lstStyle/>
          <a:p>
            <a:endParaRPr lang="en-GB" sz="280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91840" y="54406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Tried: </a:t>
            </a:r>
            <a:r>
              <a:rPr lang="en-US" sz="1100" dirty="0">
                <a:solidFill>
                  <a:srgbClr val="1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/ analytical / scenario mix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01000" y="54406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A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to factual-only per the task's examples; kept difficulty grading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1429</Words>
  <Application>Microsoft Office PowerPoint</Application>
  <PresentationFormat>Widescreen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Procurement QA Pipeline</dc:creator>
  <cp:lastModifiedBy>Rado Kubis</cp:lastModifiedBy>
  <cp:revision>2</cp:revision>
  <dcterms:created xsi:type="dcterms:W3CDTF">2026-08-20T00:28:44Z</dcterms:created>
  <dcterms:modified xsi:type="dcterms:W3CDTF">2026-08-20T00:40:33Z</dcterms:modified>
</cp:coreProperties>
</file>